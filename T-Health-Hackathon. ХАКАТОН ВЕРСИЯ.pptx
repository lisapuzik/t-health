
<file path=[Content_Types].xml><?xml version="1.0" encoding="utf-8"?>
<Types xmlns="http://schemas.openxmlformats.org/package/2006/content-types">
  <Default Extension="jp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71" r:id="rId9"/>
    <p:sldId id="269" r:id="rId10"/>
    <p:sldId id="270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35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T-Health — собственное приложение Т-Банка для здоровья сотрудников. Мы команда «Лавлейс», и за следующие пять минут покажем, почему забота не работает без доверия — и как мы это чиним.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человек, один продукт. Роли — на слайде, если нужно распределить представление команды перед жюри.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74 процента не доверяют. 29 готовы делиться. 54 боятся, что данные дойдут до руководителя. Программы формально работают — а по сути не отражают реальную картину.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пользователь — не абстрактный «сотрудник». Это конкретный человек 25–40 лет за монитором, который хочет заботиться о себе, но не доверяет корпоративным инструментам.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Лента — точка входа. Сотрудники делятся тренировками и рецептами, поддерживают друг друга лайками — это живое пространство, а не форма отчётности.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Достижения — это не гонка за первое место. Это способ заметить: я молодец, что позаботился о себе сегодня.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Сотрудник получает простой и безопасный инструмент для ежедневной заботы о себе. Т-Банк получает снижение выгорания, рост вовлечённости и видимое доказательство заботы для кандидатов.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191B-8E91-06A9-A4CF-EC00B70F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002C2-97B8-B3C7-D439-DB62A532D4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9A007-A8D7-0774-2134-2DA34C600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и есть киллер-фича: не набор функций, а архитектурное решение. Своё приложение — свои правила игры в доверие.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B50BB-068D-3BD3-AD02-F0DF011E6D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05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 MVP на хакатоне — к пилоту на реальных сотрудниках — и дальше к полному раскату на компанию.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Спасибо. Мы команда «Лавлейс», готовы показать продукт живьём и ответить на любые вопросы жюри.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3.mp4"/><Relationship Id="rId1" Type="http://schemas.openxmlformats.org/officeDocument/2006/relationships/video" Target="NULL" TargetMode="External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2" Type="http://schemas.microsoft.com/office/2007/relationships/media" Target="../media/media4.mp4"/><Relationship Id="rId1" Type="http://schemas.openxmlformats.org/officeDocument/2006/relationships/video" Target="NULL" TargetMode="Externa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2"/>
          <p:cNvSpPr txBox="1"/>
          <p:nvPr/>
        </p:nvSpPr>
        <p:spPr>
          <a:xfrm>
            <a:off x="685800" y="2103120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T-Health</a:t>
            </a:r>
            <a:endParaRPr lang="en-US" sz="5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1272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Забота, которой доверяют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749808" y="3822192"/>
            <a:ext cx="411480" cy="41148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9776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превращаем заботу о здоровье из формальной корпоративной программы в ежедневную привычку, которой доверяют сотрудники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949440" y="-457200"/>
            <a:ext cx="6217920" cy="6217920"/>
          </a:xfrm>
          <a:prstGeom prst="ellipse">
            <a:avLst/>
          </a:prstGeom>
          <a:solidFill>
            <a:srgbClr val="FFDD2D">
              <a:alpha val="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93577" y="-13063"/>
            <a:ext cx="5329646" cy="5329646"/>
          </a:xfrm>
          <a:prstGeom prst="ellipse">
            <a:avLst/>
          </a:prstGeom>
          <a:solidFill>
            <a:srgbClr val="FFDD2D">
              <a:alpha val="1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37714" y="431074"/>
            <a:ext cx="4441371" cy="4441371"/>
          </a:xfrm>
          <a:prstGeom prst="ellipse">
            <a:avLst/>
          </a:prstGeom>
          <a:solidFill>
            <a:srgbClr val="FFDD2D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281851" y="875211"/>
            <a:ext cx="3553097" cy="3553097"/>
          </a:xfrm>
          <a:prstGeom prst="ellipse">
            <a:avLst/>
          </a:prstGeom>
          <a:solidFill>
            <a:srgbClr val="FFDD2D">
              <a:alpha val="2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25989" y="1319349"/>
            <a:ext cx="2664823" cy="2664823"/>
          </a:xfrm>
          <a:prstGeom prst="ellipse">
            <a:avLst/>
          </a:prstGeom>
          <a:solidFill>
            <a:srgbClr val="FFDD2D">
              <a:alpha val="33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170126" y="1763486"/>
            <a:ext cx="1776549" cy="1776549"/>
          </a:xfrm>
          <a:prstGeom prst="ellipse">
            <a:avLst/>
          </a:prstGeom>
          <a:solidFill>
            <a:srgbClr val="FFDD2D">
              <a:alpha val="39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614263" y="2207623"/>
            <a:ext cx="888274" cy="888274"/>
          </a:xfrm>
          <a:prstGeom prst="ellipse">
            <a:avLst/>
          </a:prstGeom>
          <a:solidFill>
            <a:srgbClr val="FFDD2D">
              <a:alpha val="46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31520" y="5166360"/>
            <a:ext cx="1069848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5321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«ЛАВЛЕЙС»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68096" y="5751576"/>
            <a:ext cx="548640" cy="54864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1" descr="/home/claude/thealth/assets/us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5927141"/>
            <a:ext cx="241402" cy="24140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1417320" y="576986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Шемякина Софья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417320" y="6080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900" i="1" dirty="0">
                <a:solidFill>
                  <a:schemeClr val="bg1">
                    <a:lumMod val="50000"/>
                  </a:schemeClr>
                </a:solidFill>
              </a:rPr>
              <a:t>Team </a:t>
            </a:r>
            <a:r>
              <a:rPr lang="ru-RU" sz="900" i="1" dirty="0" err="1">
                <a:solidFill>
                  <a:schemeClr val="bg1">
                    <a:lumMod val="50000"/>
                  </a:schemeClr>
                </a:solidFill>
              </a:rPr>
              <a:t>Lead</a:t>
            </a:r>
            <a:r>
              <a:rPr lang="ru-RU" sz="900" i="1" dirty="0">
                <a:solidFill>
                  <a:schemeClr val="bg1">
                    <a:lumMod val="50000"/>
                  </a:schemeClr>
                </a:solidFill>
              </a:rPr>
              <a:t> &amp; Product Design</a:t>
            </a:r>
            <a:endParaRPr lang="en-US" sz="5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Shape 29"/>
          <p:cNvSpPr/>
          <p:nvPr/>
        </p:nvSpPr>
        <p:spPr>
          <a:xfrm>
            <a:off x="2852928" y="5751576"/>
            <a:ext cx="548640" cy="54864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4" name="Image 2" descr="/home/claude/thealth/assets/us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547" y="5927141"/>
            <a:ext cx="241402" cy="241402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3502152" y="576986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Пузикова Елизавета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3502152" y="6080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Backend Engineer</a:t>
            </a:r>
          </a:p>
        </p:txBody>
      </p:sp>
      <p:sp>
        <p:nvSpPr>
          <p:cNvPr id="37" name="Shape 32"/>
          <p:cNvSpPr/>
          <p:nvPr/>
        </p:nvSpPr>
        <p:spPr>
          <a:xfrm>
            <a:off x="4937760" y="5751576"/>
            <a:ext cx="548640" cy="54864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8" name="Image 3" descr="/home/claude/thealth/assets/us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379" y="5927141"/>
            <a:ext cx="241402" cy="241402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5586984" y="576986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Самохвалова София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5586984" y="6080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900" i="1" dirty="0">
                <a:solidFill>
                  <a:schemeClr val="bg1">
                    <a:lumMod val="50000"/>
                  </a:schemeClr>
                </a:solidFill>
              </a:rPr>
              <a:t>Product Manager</a:t>
            </a:r>
            <a:endParaRPr lang="en-US" sz="9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Shape 35"/>
          <p:cNvSpPr/>
          <p:nvPr/>
        </p:nvSpPr>
        <p:spPr>
          <a:xfrm>
            <a:off x="7022592" y="5751576"/>
            <a:ext cx="548640" cy="54864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2" name="Image 4" descr="/home/claude/thealth/assets/us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211" y="5927141"/>
            <a:ext cx="241402" cy="241402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671816" y="576986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Потапова Мария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7671816" y="6080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UX/UI Design</a:t>
            </a:r>
            <a:endParaRPr lang="en-US" sz="5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Shape 38"/>
          <p:cNvSpPr/>
          <p:nvPr/>
        </p:nvSpPr>
        <p:spPr>
          <a:xfrm>
            <a:off x="9107424" y="5751576"/>
            <a:ext cx="548640" cy="54864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6" name="Image 5" descr="/home/claude/thealth/assets/use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043" y="5927141"/>
            <a:ext cx="241402" cy="241402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9756648" y="5769864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Мелешенко Юлия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9756648" y="6080760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>
                <a:solidFill>
                  <a:schemeClr val="bg1">
                    <a:lumMod val="50000"/>
                  </a:schemeClr>
                </a:solidFill>
              </a:rPr>
              <a:t>Data Analyst</a:t>
            </a:r>
            <a:endParaRPr lang="en-US" sz="5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C156F79D-632B-B81F-AE28-BC72C3F376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62832"/>
            <a:ext cx="10045700" cy="104635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73398BE-4C56-2480-E619-75DB9722C337}"/>
              </a:ext>
            </a:extLst>
          </p:cNvPr>
          <p:cNvSpPr txBox="1"/>
          <p:nvPr/>
        </p:nvSpPr>
        <p:spPr>
          <a:xfrm>
            <a:off x="609600" y="1562845"/>
            <a:ext cx="7620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ru-RU" sz="1200" b="1" spc="250" dirty="0">
                <a:solidFill>
                  <a:schemeClr val="bg1"/>
                </a:solidFill>
                <a:latin typeface="Arial" panose="020B0604020202020204" pitchFamily="34" charset="0"/>
              </a:rPr>
              <a:t>СТАРТАП-ХАКАТОН 2026</a:t>
            </a:r>
          </a:p>
        </p:txBody>
      </p:sp>
      <p:sp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78C72099-D2CE-8B24-784E-EA1BF0BC3D19}"/>
              </a:ext>
            </a:extLst>
          </p:cNvPr>
          <p:cNvSpPr/>
          <p:nvPr/>
        </p:nvSpPr>
        <p:spPr>
          <a:xfrm>
            <a:off x="609600" y="1867645"/>
            <a:ext cx="3810000" cy="355600"/>
          </a:xfrm>
          <a:prstGeom prst="roundRect">
            <a:avLst>
              <a:gd name="adj" fmla="val 50000"/>
            </a:avLst>
          </a:prstGeom>
          <a:noFill/>
          <a:ln w="12700" cap="flat" cmpd="sng" algn="ctr">
            <a:solidFill>
              <a:srgbClr val="FFDD2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DD2D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EDE085-DF56-89D9-5B9C-19B0E531561F}"/>
              </a:ext>
            </a:extLst>
          </p:cNvPr>
          <p:cNvSpPr txBox="1"/>
          <p:nvPr/>
        </p:nvSpPr>
        <p:spPr>
          <a:xfrm>
            <a:off x="812800" y="1931145"/>
            <a:ext cx="3683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ru-RU" sz="1050" b="1" dirty="0">
                <a:solidFill>
                  <a:srgbClr val="FFDD2D"/>
                </a:solidFill>
                <a:latin typeface="Arial" panose="020B0604020202020204" pitchFamily="34" charset="0"/>
              </a:rPr>
              <a:t>Акселерационная программа «Пятый элемент»</a:t>
            </a:r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051B5C5A-B751-3F9F-A4C0-3C22E3DEA239}"/>
              </a:ext>
            </a:extLst>
          </p:cNvPr>
          <p:cNvGrpSpPr/>
          <p:nvPr/>
        </p:nvGrpSpPr>
        <p:grpSpPr>
          <a:xfrm>
            <a:off x="9281160" y="1874520"/>
            <a:ext cx="1554480" cy="1554480"/>
            <a:chOff x="9281160" y="1874520"/>
            <a:chExt cx="1554480" cy="1554480"/>
          </a:xfrm>
        </p:grpSpPr>
        <p:sp>
          <p:nvSpPr>
            <p:cNvPr id="25" name="Shape 23"/>
            <p:cNvSpPr/>
            <p:nvPr/>
          </p:nvSpPr>
          <p:spPr>
            <a:xfrm>
              <a:off x="9281160" y="1874520"/>
              <a:ext cx="1554480" cy="1554480"/>
            </a:xfrm>
            <a:prstGeom prst="roundRect">
              <a:avLst>
                <a:gd name="adj" fmla="val 24000"/>
              </a:avLst>
            </a:prstGeom>
            <a:solidFill>
              <a:srgbClr val="FFDD2D"/>
            </a:solidFill>
            <a:ln/>
            <a:effectLst>
              <a:outerShdw blurRad="304800" dist="127000" dir="5400000" algn="bl" rotWithShape="0">
                <a:srgbClr val="000000">
                  <a:alpha val="35000"/>
                </a:srgbClr>
              </a:outerShdw>
            </a:effectLst>
          </p:spPr>
        </p:sp>
        <p:pic>
          <p:nvPicPr>
            <p:cNvPr id="73" name="Рисунок 72" descr="Пульсация сердца">
              <a:extLst>
                <a:ext uri="{FF2B5EF4-FFF2-40B4-BE49-F238E27FC236}">
                  <a16:creationId xmlns:a16="http://schemas.microsoft.com/office/drawing/2014/main" id="{31596B26-C952-DF55-0F23-E780574778D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90024" y="2202543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03120"/>
            <a:ext cx="4389120" cy="4389120"/>
          </a:xfrm>
          <a:prstGeom prst="ellipse">
            <a:avLst/>
          </a:prstGeom>
          <a:ln w="17780">
            <a:solidFill>
              <a:srgbClr val="222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12648"/>
            <a:ext cx="146304" cy="146304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24128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914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«Лавлейс»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87552" y="2560320"/>
            <a:ext cx="1554480" cy="155448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34340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Шемякина Софья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8646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100" i="1" dirty="0">
                <a:solidFill>
                  <a:schemeClr val="bg1">
                    <a:lumMod val="50000"/>
                  </a:schemeClr>
                </a:solidFill>
              </a:rPr>
              <a:t>Team </a:t>
            </a:r>
            <a:r>
              <a:rPr lang="ru-RU" sz="1100" i="1" dirty="0" err="1">
                <a:solidFill>
                  <a:schemeClr val="bg1">
                    <a:lumMod val="50000"/>
                  </a:schemeClr>
                </a:solidFill>
              </a:rPr>
              <a:t>Lead</a:t>
            </a:r>
            <a:r>
              <a:rPr lang="ru-RU" sz="1100" i="1" dirty="0">
                <a:solidFill>
                  <a:schemeClr val="bg1">
                    <a:lumMod val="50000"/>
                  </a:schemeClr>
                </a:solidFill>
              </a:rPr>
              <a:t> &amp; Product Design</a:t>
            </a:r>
            <a:endParaRPr lang="en-US" sz="8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3054096" y="2560320"/>
            <a:ext cx="1554480" cy="1554480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843784" y="434340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Пузикова Елизавета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843784" y="48646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solidFill>
                  <a:schemeClr val="bg1">
                    <a:lumMod val="50000"/>
                  </a:schemeClr>
                </a:solidFill>
              </a:rPr>
              <a:t>Backend Engineer</a:t>
            </a:r>
          </a:p>
        </p:txBody>
      </p:sp>
      <p:sp>
        <p:nvSpPr>
          <p:cNvPr id="14" name="Shape 10"/>
          <p:cNvSpPr/>
          <p:nvPr/>
        </p:nvSpPr>
        <p:spPr>
          <a:xfrm>
            <a:off x="5120640" y="2560320"/>
            <a:ext cx="1554480" cy="1554480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910328" y="434340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Самохвалова София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910328" y="48646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100" i="1" dirty="0">
                <a:solidFill>
                  <a:schemeClr val="bg1">
                    <a:lumMod val="50000"/>
                  </a:schemeClr>
                </a:solidFill>
              </a:rPr>
              <a:t>Product Manager</a:t>
            </a:r>
            <a:endParaRPr lang="en-US" sz="11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187184" y="2560320"/>
            <a:ext cx="1554480" cy="1554480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976872" y="434340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Потапова Мария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976872" y="48646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solidFill>
                  <a:schemeClr val="bg1">
                    <a:lumMod val="50000"/>
                  </a:schemeClr>
                </a:solidFill>
              </a:rPr>
              <a:t>UX/UI Design</a:t>
            </a:r>
            <a:endParaRPr lang="en-US" sz="8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253728" y="2560320"/>
            <a:ext cx="1554480" cy="1554480"/>
          </a:xfrm>
          <a:prstGeom prst="ellipse">
            <a:avLst/>
          </a:prstGeom>
          <a:blipFill>
            <a:blip r:embed="rId7"/>
            <a:stretch>
              <a:fillRect/>
            </a:stretch>
          </a:blip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9043416" y="434340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Мелешенко Юлия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9043416" y="4864608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i="1" dirty="0">
                <a:solidFill>
                  <a:schemeClr val="bg1">
                    <a:lumMod val="50000"/>
                  </a:schemeClr>
                </a:solidFill>
              </a:rPr>
              <a:t>Data Analyst</a:t>
            </a:r>
            <a:endParaRPr lang="en-US" sz="8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46304" cy="146304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4128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4124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Забота, в которую не верят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7040880" cy="1051560"/>
          </a:xfrm>
          <a:prstGeom prst="roundRect">
            <a:avLst>
              <a:gd name="adj" fmla="val 6957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00200"/>
            <a:ext cx="54864" cy="1051560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1691640"/>
            <a:ext cx="6629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E5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не доверяют корпоративным well-being-сервисам и боятся делиться данными о здоровье — даже хорошие программы остаются формальными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80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9125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Т-Банка 25–40 лет, которые хотят заботиться о здоровье, но не делают этого из-за недоверия к корпоративным инструментам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9593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9593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ПРОИСХОДИТ?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427024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не доверяют сервисам, 29% готовы </a:t>
            </a:r>
            <a:r>
              <a:rPr lang="en-US" sz="1100" dirty="0" err="1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делиться</a:t>
            </a: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данными</a:t>
            </a:r>
            <a:r>
              <a:rPr lang="ru-RU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Только 47% сотрудников были полностью честны при передаче обратной связи напрямую HR, а те, кто дал неполные данные, боятся мести.</a:t>
            </a:r>
          </a:p>
          <a:p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итоге — либо не участвуют, либо дают неполные данные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03834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03834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ВАЖНО?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34924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Сотруднику — нет реальной поддержки. Бизнесу — растёт выгорание и текучесть. Т-Банку — забота остаётся невидимой для сотрудников и кандидатов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1600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404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доверяют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89864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46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делиться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19709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46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r>
              <a:rPr lang="en-US" sz="46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5001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боятся</a:t>
            </a: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мести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B0FEE4E-A503-A6F8-6538-8D4340A6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412" y="937678"/>
            <a:ext cx="1308533" cy="152621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FCEFB70-66F6-695C-B9BF-7C8CE9058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0970" y="4238662"/>
            <a:ext cx="1309030" cy="1526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90167C2-594D-6566-7E8A-EA4037BC7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5994" y="2592383"/>
            <a:ext cx="1307851" cy="1526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2648"/>
            <a:ext cx="146304" cy="146304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4128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144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914400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17830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Т-Банка 25–40 лет, который хочет быть здоровым, но не доверяет корпоративным приложениям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141414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337560"/>
            <a:ext cx="566928" cy="566928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10" name="Image 0" descr="/home/claude/thealth/assets/monitor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911" y="3490631"/>
            <a:ext cx="260787" cy="260787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0584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ЦА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44348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Офисные специалисты и руководители, которые проводят за компьютером 8+ часов в день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34840" y="306324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141414"/>
          </a:solidFill>
          <a:ln/>
        </p:spPr>
      </p:sp>
      <p:sp>
        <p:nvSpPr>
          <p:cNvPr id="14" name="Shape 11"/>
          <p:cNvSpPr/>
          <p:nvPr/>
        </p:nvSpPr>
        <p:spPr>
          <a:xfrm>
            <a:off x="4709160" y="3337560"/>
            <a:ext cx="566928" cy="566928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15" name="Image 1" descr="/home/claude/thealth/assets/brai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231" y="3490631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0916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44348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Молодые специалисты 25–34 </a:t>
            </a:r>
            <a:r>
              <a:rPr lang="ru-RU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r>
              <a:rPr lang="en-US" sz="1250" dirty="0" err="1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ользуются</a:t>
            </a:r>
            <a:r>
              <a:rPr lang="en-US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приложениями, но не доверяют корпоративным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38160" y="3063240"/>
            <a:ext cx="3383280" cy="2788920"/>
          </a:xfrm>
          <a:prstGeom prst="roundRect">
            <a:avLst>
              <a:gd name="adj" fmla="val 2623"/>
            </a:avLst>
          </a:prstGeom>
          <a:solidFill>
            <a:srgbClr val="141414"/>
          </a:solidFill>
          <a:ln/>
        </p:spPr>
      </p:sp>
      <p:sp>
        <p:nvSpPr>
          <p:cNvPr id="19" name="Shape 15"/>
          <p:cNvSpPr/>
          <p:nvPr/>
        </p:nvSpPr>
        <p:spPr>
          <a:xfrm>
            <a:off x="8412480" y="3337560"/>
            <a:ext cx="566928" cy="566928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20" name="Image 2" descr="/home/claude/thealth/assets/footprints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5551" y="3490631"/>
            <a:ext cx="260787" cy="26078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41248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8412480" y="44348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Сидячая работа, стресс, нет времени на спорт. Сейчас решают сами — без поддержки и социальной мотивации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2648"/>
            <a:ext cx="146304" cy="146304"/>
          </a:xfrm>
          <a:prstGeom prst="rect">
            <a:avLst/>
          </a:prstGeom>
          <a:solidFill>
            <a:srgbClr val="9A7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4128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594360" cy="594360"/>
          </a:xfrm>
          <a:prstGeom prst="ellipse">
            <a:avLst/>
          </a:prstGeom>
          <a:solidFill>
            <a:srgbClr val="FFF3B0"/>
          </a:solidFill>
          <a:ln/>
        </p:spPr>
      </p:sp>
      <p:pic>
        <p:nvPicPr>
          <p:cNvPr id="5" name="Image 0" descr="/home/claude/thealth/assets/rss-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997" y="112059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932688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 и шаги: начать легко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731520" y="2395728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22219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 делятся тренировками, рецептами, </a:t>
            </a:r>
            <a:r>
              <a:rPr lang="en-US" sz="145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достижениями</a:t>
            </a:r>
            <a:r>
              <a:rPr lang="ru-RU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Лайки, комментарии, поддержка коллег.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1520" y="3172968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29992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 — считаются автоматически через сенсор телефона. Никаких дополнительных устройств.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3950208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37764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виден сразу — без сложных отчётов и таблиц. Открыл — увидел.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1520" y="562356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5623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“Лента — живая, не про работу”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7589520" y="6378787"/>
            <a:ext cx="3108960" cy="18288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15" name="ч2">
            <a:hlinkClick r:id="" action="ppaction://media"/>
            <a:extLst>
              <a:ext uri="{FF2B5EF4-FFF2-40B4-BE49-F238E27FC236}">
                <a16:creationId xmlns:a16="http://schemas.microsoft.com/office/drawing/2014/main" id="{752E5935-573C-534A-7085-624DB24B04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28347" y="313302"/>
            <a:ext cx="2631306" cy="5847347"/>
          </a:xfrm>
          <a:prstGeom prst="roundRect">
            <a:avLst>
              <a:gd name="adj" fmla="val 5439"/>
            </a:avLst>
          </a:prstGeom>
          <a:ln w="76200">
            <a:solidFill>
              <a:schemeClr val="tx1"/>
            </a:solidFill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423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2648"/>
            <a:ext cx="146304" cy="146304"/>
          </a:xfrm>
          <a:prstGeom prst="rect">
            <a:avLst/>
          </a:prstGeom>
          <a:solidFill>
            <a:srgbClr val="9A7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4128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594360" cy="594360"/>
          </a:xfrm>
          <a:prstGeom prst="ellipse">
            <a:avLst/>
          </a:prstGeom>
          <a:solidFill>
            <a:srgbClr val="FFF3B0"/>
          </a:solidFill>
          <a:ln/>
        </p:spPr>
      </p:sp>
      <p:pic>
        <p:nvPicPr>
          <p:cNvPr id="5" name="Image 0" descr="/home/claude/thealth/assets/gem-b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997" y="112059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932688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Достижения и эмоции: не бросить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731520" y="2395728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05840" y="222199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Дневник эмоций — одна кнопка в день: «как ты сегодня?» Пять смайлов. Без анкет. Полностью анонимно.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31520" y="3172968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299923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Челленджи — простые бейджи за активность и посты. 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3950208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05840" y="3776472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Расти кристаллик за тренировки.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31520" y="562356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5623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“Маленькие победы — тоже победы”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D32F7CC4-AE9B-1B67-B193-151964D4F29D}"/>
              </a:ext>
            </a:extLst>
          </p:cNvPr>
          <p:cNvSpPr/>
          <p:nvPr/>
        </p:nvSpPr>
        <p:spPr>
          <a:xfrm>
            <a:off x="7589520" y="6378787"/>
            <a:ext cx="3108960" cy="18288"/>
          </a:xfrm>
          <a:prstGeom prst="rect">
            <a:avLst/>
          </a:prstGeom>
          <a:solidFill>
            <a:srgbClr val="D8D8D8"/>
          </a:solidFill>
          <a:ln/>
        </p:spPr>
      </p:sp>
      <p:pic>
        <p:nvPicPr>
          <p:cNvPr id="16" name="алм">
            <a:hlinkClick r:id="" action="ppaction://media"/>
            <a:extLst>
              <a:ext uri="{FF2B5EF4-FFF2-40B4-BE49-F238E27FC236}">
                <a16:creationId xmlns:a16="http://schemas.microsoft.com/office/drawing/2014/main" id="{F54701AC-2917-9487-9686-E15021F57B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28346" y="369854"/>
            <a:ext cx="2631307" cy="5847349"/>
          </a:xfrm>
          <a:prstGeom prst="roundRect">
            <a:avLst>
              <a:gd name="adj" fmla="val 5439"/>
            </a:avLst>
          </a:prstGeom>
          <a:ln w="76200">
            <a:solidFill>
              <a:schemeClr val="tx1"/>
            </a:solidFill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363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2648"/>
            <a:ext cx="146304" cy="146304"/>
          </a:xfrm>
          <a:prstGeom prst="rect">
            <a:avLst/>
          </a:prstGeom>
          <a:solidFill>
            <a:srgbClr val="9A7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4128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144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17373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получает простой и безопасный инструмент, который помогает ему каждый день заботиться о здоровье — и знает, что его данные под его контролем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291840"/>
            <a:ext cx="548640" cy="548640"/>
          </a:xfrm>
          <a:prstGeom prst="ellipse">
            <a:avLst/>
          </a:prstGeom>
          <a:solidFill>
            <a:srgbClr val="FFF3B0"/>
          </a:solidFill>
          <a:ln/>
        </p:spPr>
      </p:sp>
      <p:pic>
        <p:nvPicPr>
          <p:cNvPr id="9" name="Image 0" descr="/home/claude/thealth/assets/heart-pulse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693" y="343997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78308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1051560" y="4023360"/>
            <a:ext cx="448056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51560" y="4352544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325880" y="4187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Ежедневная поддержка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1051560" y="4919472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325880" y="4754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Социальная мотивация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51560" y="5486400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325880" y="53218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Ощущение контроля над данными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309360" y="297180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29400" y="3291840"/>
            <a:ext cx="548640" cy="548640"/>
          </a:xfrm>
          <a:prstGeom prst="ellipse">
            <a:avLst/>
          </a:prstGeom>
          <a:solidFill>
            <a:srgbClr val="FFF3B0"/>
          </a:solidFill>
          <a:ln/>
        </p:spPr>
      </p:sp>
      <p:pic>
        <p:nvPicPr>
          <p:cNvPr id="20" name="Image 1" descr="/home/claude/thealth/assets/trending-up-bl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533" y="3439973"/>
            <a:ext cx="252374" cy="25237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36092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Т-БАНК</a:t>
            </a:r>
            <a:endParaRPr lang="en-US" sz="1650" dirty="0"/>
          </a:p>
        </p:txBody>
      </p:sp>
      <p:sp>
        <p:nvSpPr>
          <p:cNvPr id="22" name="Shape 18"/>
          <p:cNvSpPr/>
          <p:nvPr/>
        </p:nvSpPr>
        <p:spPr>
          <a:xfrm>
            <a:off x="6629400" y="4023360"/>
            <a:ext cx="448056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29400" y="4352544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903720" y="41879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выгорания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6629400" y="4919472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903720" y="4754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вовлечённости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629400" y="5486400"/>
            <a:ext cx="128016" cy="128016"/>
          </a:xfrm>
          <a:prstGeom prst="ellipse">
            <a:avLst/>
          </a:prstGeom>
          <a:solidFill>
            <a:srgbClr val="FFDD2D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903720" y="53218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Видимое доказательство заботы для кандидатов</a:t>
            </a:r>
            <a:endParaRPr lang="en-US" sz="1350" dirty="0"/>
          </a:p>
        </p:txBody>
      </p:sp>
      <p:sp>
        <p:nvSpPr>
          <p:cNvPr id="29" name="Text 2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ru-RU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EDA98-9393-F88A-9ED5-0827BFED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407CAAF-D021-C4D7-1800-1C5627996743}"/>
              </a:ext>
            </a:extLst>
          </p:cNvPr>
          <p:cNvSpPr/>
          <p:nvPr/>
        </p:nvSpPr>
        <p:spPr>
          <a:xfrm>
            <a:off x="274320" y="1051560"/>
            <a:ext cx="4754880" cy="4754880"/>
          </a:xfrm>
          <a:prstGeom prst="ellipse">
            <a:avLst/>
          </a:prstGeom>
          <a:solidFill>
            <a:srgbClr val="FFDD2D">
              <a:alpha val="7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1E44A8-46FD-D984-4A8C-71FE49DE93DB}"/>
              </a:ext>
            </a:extLst>
          </p:cNvPr>
          <p:cNvSpPr/>
          <p:nvPr/>
        </p:nvSpPr>
        <p:spPr>
          <a:xfrm>
            <a:off x="613954" y="1391194"/>
            <a:ext cx="4075611" cy="4075611"/>
          </a:xfrm>
          <a:prstGeom prst="ellipse">
            <a:avLst/>
          </a:prstGeom>
          <a:solidFill>
            <a:srgbClr val="FFDD2D">
              <a:alpha val="13000"/>
            </a:srgbClr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8C57080-F0E8-5E15-738F-CC2E10BA22FE}"/>
              </a:ext>
            </a:extLst>
          </p:cNvPr>
          <p:cNvSpPr/>
          <p:nvPr/>
        </p:nvSpPr>
        <p:spPr>
          <a:xfrm>
            <a:off x="953589" y="1730829"/>
            <a:ext cx="3396343" cy="3396343"/>
          </a:xfrm>
          <a:prstGeom prst="ellipse">
            <a:avLst/>
          </a:prstGeom>
          <a:solidFill>
            <a:srgbClr val="FFDD2D">
              <a:alpha val="20000"/>
            </a:srgbClr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800482-7C4A-FEE3-EF2B-A7591463D85D}"/>
              </a:ext>
            </a:extLst>
          </p:cNvPr>
          <p:cNvSpPr/>
          <p:nvPr/>
        </p:nvSpPr>
        <p:spPr>
          <a:xfrm>
            <a:off x="1293223" y="2070463"/>
            <a:ext cx="2717074" cy="2717074"/>
          </a:xfrm>
          <a:prstGeom prst="ellipse">
            <a:avLst/>
          </a:prstGeom>
          <a:solidFill>
            <a:srgbClr val="FFDD2D">
              <a:alpha val="26000"/>
            </a:srgbClr>
          </a:solidFill>
          <a:ln/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A7BF443-9609-B6D0-8E1F-C6A814C5DF0C}"/>
              </a:ext>
            </a:extLst>
          </p:cNvPr>
          <p:cNvSpPr/>
          <p:nvPr/>
        </p:nvSpPr>
        <p:spPr>
          <a:xfrm>
            <a:off x="1632857" y="2410097"/>
            <a:ext cx="2037806" cy="2037806"/>
          </a:xfrm>
          <a:prstGeom prst="ellipse">
            <a:avLst/>
          </a:prstGeom>
          <a:solidFill>
            <a:srgbClr val="FFDD2D">
              <a:alpha val="33000"/>
            </a:srgbClr>
          </a:solidFill>
          <a:ln/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852872A-2D16-ABB2-D1E4-A9B4F48FCC98}"/>
              </a:ext>
            </a:extLst>
          </p:cNvPr>
          <p:cNvSpPr/>
          <p:nvPr/>
        </p:nvSpPr>
        <p:spPr>
          <a:xfrm>
            <a:off x="1972491" y="2749731"/>
            <a:ext cx="1358537" cy="1358537"/>
          </a:xfrm>
          <a:prstGeom prst="ellipse">
            <a:avLst/>
          </a:prstGeom>
          <a:solidFill>
            <a:srgbClr val="FFDD2D">
              <a:alpha val="39000"/>
            </a:srgbClr>
          </a:solidFill>
          <a:ln/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80C806-C021-AA83-3E3E-892835FC290E}"/>
              </a:ext>
            </a:extLst>
          </p:cNvPr>
          <p:cNvSpPr/>
          <p:nvPr/>
        </p:nvSpPr>
        <p:spPr>
          <a:xfrm>
            <a:off x="2312126" y="3089366"/>
            <a:ext cx="679269" cy="679269"/>
          </a:xfrm>
          <a:prstGeom prst="ellipse">
            <a:avLst/>
          </a:prstGeom>
          <a:solidFill>
            <a:srgbClr val="FFDD2D">
              <a:alpha val="46000"/>
            </a:srgbClr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DFB9E89-D659-3F51-A22F-882CBD7688AC}"/>
              </a:ext>
            </a:extLst>
          </p:cNvPr>
          <p:cNvSpPr/>
          <p:nvPr/>
        </p:nvSpPr>
        <p:spPr>
          <a:xfrm>
            <a:off x="1691640" y="2468880"/>
            <a:ext cx="1920240" cy="1920240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584B27E-7B0A-0EC9-40C0-F8397133E760}"/>
              </a:ext>
            </a:extLst>
          </p:cNvPr>
          <p:cNvSpPr/>
          <p:nvPr/>
        </p:nvSpPr>
        <p:spPr>
          <a:xfrm>
            <a:off x="4846320" y="841248"/>
            <a:ext cx="146304" cy="146304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F956140-ED9C-4216-9F7B-5C6491C087E5}"/>
              </a:ext>
            </a:extLst>
          </p:cNvPr>
          <p:cNvSpPr txBox="1"/>
          <p:nvPr/>
        </p:nvSpPr>
        <p:spPr>
          <a:xfrm>
            <a:off x="5138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KILLER-ФИЧА</a:t>
            </a:r>
            <a:endParaRPr lang="en-US" sz="12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D294BF2-EA1D-06FE-58FC-F860FFEB5D83}"/>
              </a:ext>
            </a:extLst>
          </p:cNvPr>
          <p:cNvSpPr txBox="1"/>
          <p:nvPr/>
        </p:nvSpPr>
        <p:spPr>
          <a:xfrm>
            <a:off x="4800600" y="11430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AI-ассистент: забота, которой доверяют — в моменте.</a:t>
            </a:r>
            <a:endParaRPr lang="en-US" sz="32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D0D79A7-A4B3-74B0-6CA6-CBD4DDE262ED}"/>
              </a:ext>
            </a:extLst>
          </p:cNvPr>
          <p:cNvSpPr/>
          <p:nvPr/>
        </p:nvSpPr>
        <p:spPr>
          <a:xfrm>
            <a:off x="4846320" y="2935224"/>
            <a:ext cx="45720" cy="685800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8343183-780E-D382-393C-53917407D34F}"/>
              </a:ext>
            </a:extLst>
          </p:cNvPr>
          <p:cNvSpPr txBox="1"/>
          <p:nvPr/>
        </p:nvSpPr>
        <p:spPr>
          <a:xfrm>
            <a:off x="502920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ВАЖНО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F26A211-ADE5-0676-66EF-FCAEE68B6CF2}"/>
              </a:ext>
            </a:extLst>
          </p:cNvPr>
          <p:cNvSpPr txBox="1"/>
          <p:nvPr/>
        </p:nvSpPr>
        <p:spPr>
          <a:xfrm>
            <a:off x="5029200" y="317296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ru-RU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Своё приложение Т-Банка. Данные не уходят третьим лицам. AI работает внутри экосистемы — безопасно и прозрачно.</a:t>
            </a:r>
            <a:endParaRPr lang="en-US" sz="12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9A3261C-983B-D389-0F86-805A9EB787D1}"/>
              </a:ext>
            </a:extLst>
          </p:cNvPr>
          <p:cNvSpPr/>
          <p:nvPr/>
        </p:nvSpPr>
        <p:spPr>
          <a:xfrm>
            <a:off x="4846320" y="3895344"/>
            <a:ext cx="45720" cy="685800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416EABF-F2C7-4453-6B87-50291A64695A}"/>
              </a:ext>
            </a:extLst>
          </p:cNvPr>
          <p:cNvSpPr txBox="1"/>
          <p:nvPr/>
        </p:nvSpPr>
        <p:spPr>
          <a:xfrm>
            <a:off x="50292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ИНАЧЕ, ЧЕМ У ДРУГИХ</a:t>
            </a:r>
            <a:endParaRPr lang="en-US" sz="11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97D571A-E20C-7C52-07FC-2FDDDD090C00}"/>
              </a:ext>
            </a:extLst>
          </p:cNvPr>
          <p:cNvSpPr txBox="1"/>
          <p:nvPr/>
        </p:nvSpPr>
        <p:spPr>
          <a:xfrm>
            <a:off x="5029200" y="41330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ru-RU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в моменте. Поставил настроение — получил новые рекомендации. Не через неделю, не по расписанию. Сразу. Это не трекер, это помощник, который рядом.</a:t>
            </a:r>
            <a:endParaRPr lang="en-US" sz="125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E4634E34-994D-07FC-4E0E-0BE4D9C4CE4E}"/>
              </a:ext>
            </a:extLst>
          </p:cNvPr>
          <p:cNvSpPr/>
          <p:nvPr/>
        </p:nvSpPr>
        <p:spPr>
          <a:xfrm>
            <a:off x="4846320" y="4855464"/>
            <a:ext cx="45720" cy="685800"/>
          </a:xfrm>
          <a:prstGeom prst="rect">
            <a:avLst/>
          </a:prstGeom>
          <a:solidFill>
            <a:srgbClr val="FFDD2D"/>
          </a:solidFill>
          <a:ln/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92A534F-FEF4-6B04-00EF-B481F33E10D9}"/>
              </a:ext>
            </a:extLst>
          </p:cNvPr>
          <p:cNvSpPr txBox="1"/>
          <p:nvPr/>
        </p:nvSpPr>
        <p:spPr>
          <a:xfrm>
            <a:off x="5029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</a:t>
            </a:r>
            <a:endParaRPr lang="en-US" sz="11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6AF57ED-E43C-3678-A595-915BEC90C6E1}"/>
              </a:ext>
            </a:extLst>
          </p:cNvPr>
          <p:cNvSpPr txBox="1"/>
          <p:nvPr/>
        </p:nvSpPr>
        <p:spPr>
          <a:xfrm>
            <a:off x="5029200" y="509320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ru-RU" sz="12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Забудь про «рекомендации раз в неделю». T-Health отвечает в моменте. Устал — медитация. В ресурсе — тренировка. Сегодня — не как вчера.</a:t>
            </a:r>
            <a:endParaRPr lang="en-US" sz="12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FBB2375-3C7F-EF25-B750-390C60E65022}"/>
              </a:ext>
            </a:extLst>
          </p:cNvPr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773602F3-9448-02D1-5A84-4623E96CE2D1}"/>
              </a:ext>
            </a:extLst>
          </p:cNvPr>
          <p:cNvSpPr/>
          <p:nvPr/>
        </p:nvSpPr>
        <p:spPr>
          <a:xfrm>
            <a:off x="1090108" y="6378787"/>
            <a:ext cx="3108960" cy="182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pic>
        <p:nvPicPr>
          <p:cNvPr id="26" name="асисит">
            <a:hlinkClick r:id="" action="ppaction://media"/>
            <a:extLst>
              <a:ext uri="{FF2B5EF4-FFF2-40B4-BE49-F238E27FC236}">
                <a16:creationId xmlns:a16="http://schemas.microsoft.com/office/drawing/2014/main" id="{39886B85-1D39-D660-5198-2FE8D8602C41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85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28935" y="373238"/>
            <a:ext cx="2631306" cy="5847346"/>
          </a:xfrm>
          <a:prstGeom prst="roundRect">
            <a:avLst>
              <a:gd name="adj" fmla="val 5439"/>
            </a:avLst>
          </a:prstGeom>
          <a:ln w="76200">
            <a:solidFill>
              <a:schemeClr val="tx1"/>
            </a:solidFill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898948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17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12648"/>
            <a:ext cx="146304" cy="146304"/>
          </a:xfrm>
          <a:prstGeom prst="rect">
            <a:avLst/>
          </a:prstGeom>
          <a:solidFill>
            <a:srgbClr val="9A7A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24128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9A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91440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 проекта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0584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pic>
        <p:nvPicPr>
          <p:cNvPr id="7" name="Image 0" descr="/home/claude/thealth/assets/arrow-up-right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3520440" y="25146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[MVP]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767328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Лента, шаги, дневник эмоций, достижения — рабочий прототип к защите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19456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70916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pic>
        <p:nvPicPr>
          <p:cNvPr id="12" name="Image 1" descr="/home/claude/thealth/assets/arrow-up-right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7223760" y="25146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916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Ближайший этап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3767328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гипотез на пилотной группе, доработка рекомендаций и уведомлений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19456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blurRad="228600" dist="762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841248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3"/>
          <p:cNvSpPr txBox="1"/>
          <p:nvPr/>
        </p:nvSpPr>
        <p:spPr>
          <a:xfrm>
            <a:off x="841248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[Масштабирование]</a:t>
            </a:r>
            <a:endParaRPr lang="en-US" sz="1550" dirty="0"/>
          </a:p>
        </p:txBody>
      </p:sp>
      <p:sp>
        <p:nvSpPr>
          <p:cNvPr id="18" name="Text 14"/>
          <p:cNvSpPr txBox="1"/>
          <p:nvPr/>
        </p:nvSpPr>
        <p:spPr>
          <a:xfrm>
            <a:off x="8412480" y="3767328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Раскатка на всех сотрудников, новые интеграции, новые рынки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20040" y="-502920"/>
            <a:ext cx="5669280" cy="5669280"/>
          </a:xfrm>
          <a:prstGeom prst="ellipse">
            <a:avLst/>
          </a:prstGeom>
          <a:solidFill>
            <a:srgbClr val="FFDD2D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909" y="-97971"/>
            <a:ext cx="4859383" cy="4859383"/>
          </a:xfrm>
          <a:prstGeom prst="ellipse">
            <a:avLst/>
          </a:prstGeom>
          <a:solidFill>
            <a:srgbClr val="FFDD2D">
              <a:alpha val="1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9857" y="306977"/>
            <a:ext cx="4049486" cy="4049486"/>
          </a:xfrm>
          <a:prstGeom prst="ellipse">
            <a:avLst/>
          </a:prstGeom>
          <a:solidFill>
            <a:srgbClr val="FFDD2D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4806" y="711926"/>
            <a:ext cx="3239589" cy="3239589"/>
          </a:xfrm>
          <a:prstGeom prst="ellipse">
            <a:avLst/>
          </a:prstGeom>
          <a:solidFill>
            <a:srgbClr val="FFDD2D">
              <a:alpha val="2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99754" y="1116874"/>
            <a:ext cx="2429691" cy="2429691"/>
          </a:xfrm>
          <a:prstGeom prst="ellipse">
            <a:avLst/>
          </a:prstGeom>
          <a:solidFill>
            <a:srgbClr val="FFDD2D">
              <a:alpha val="3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704703" y="1521823"/>
            <a:ext cx="1619794" cy="1619794"/>
          </a:xfrm>
          <a:prstGeom prst="ellipse">
            <a:avLst/>
          </a:prstGeom>
          <a:solidFill>
            <a:srgbClr val="FFDD2D">
              <a:alpha val="39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09651" y="1926771"/>
            <a:ext cx="809897" cy="809897"/>
          </a:xfrm>
          <a:prstGeom prst="ellipse">
            <a:avLst/>
          </a:prstGeom>
          <a:solidFill>
            <a:srgbClr val="FFDD2D">
              <a:alpha val="46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905551" y="815404"/>
            <a:ext cx="48820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i="1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Здоровье, которому доверяют, — не расходы, </a:t>
            </a:r>
            <a:endParaRPr lang="ru-RU" sz="1350" i="1" dirty="0">
              <a:solidFill>
                <a:srgbClr val="FFDD2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r">
              <a:buNone/>
            </a:pPr>
            <a:r>
              <a:rPr lang="en-US" sz="1350" i="1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конкурентное преимущество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2841815" y="194637"/>
            <a:ext cx="494582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3600" dirty="0"/>
          </a:p>
        </p:txBody>
      </p:sp>
      <p:sp>
        <p:nvSpPr>
          <p:cNvPr id="14" name="Shape 11"/>
          <p:cNvSpPr/>
          <p:nvPr/>
        </p:nvSpPr>
        <p:spPr>
          <a:xfrm>
            <a:off x="731520" y="4114799"/>
            <a:ext cx="3383280" cy="2436223"/>
          </a:xfrm>
          <a:prstGeom prst="roundRect">
            <a:avLst>
              <a:gd name="adj" fmla="val 5161"/>
            </a:avLst>
          </a:prstGeom>
          <a:solidFill>
            <a:srgbClr val="141414"/>
          </a:solidFill>
          <a:ln/>
        </p:spPr>
      </p:sp>
      <p:sp>
        <p:nvSpPr>
          <p:cNvPr id="15" name="Shape 12"/>
          <p:cNvSpPr/>
          <p:nvPr/>
        </p:nvSpPr>
        <p:spPr>
          <a:xfrm>
            <a:off x="987552" y="4370832"/>
            <a:ext cx="502920" cy="502920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16" name="Image 1" descr="/home/claude/thealth/assets/github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340" y="4506620"/>
            <a:ext cx="231343" cy="23134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4592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389120" y="4114800"/>
            <a:ext cx="3383280" cy="1143000"/>
          </a:xfrm>
          <a:prstGeom prst="roundRect">
            <a:avLst>
              <a:gd name="adj" fmla="val 5161"/>
            </a:avLst>
          </a:prstGeom>
          <a:solidFill>
            <a:srgbClr val="141414"/>
          </a:solidFill>
          <a:ln/>
        </p:spPr>
      </p:sp>
      <p:sp>
        <p:nvSpPr>
          <p:cNvPr id="20" name="Shape 16"/>
          <p:cNvSpPr/>
          <p:nvPr/>
        </p:nvSpPr>
        <p:spPr>
          <a:xfrm>
            <a:off x="4645152" y="4370832"/>
            <a:ext cx="502920" cy="502920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21" name="Image 2" descr="/home/claude/thealth/assets/send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940" y="4506620"/>
            <a:ext cx="231343" cy="23134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0352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КАПИТАНА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303520" y="46451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@ssonya_ya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404360" y="5363046"/>
            <a:ext cx="3383280" cy="1187976"/>
          </a:xfrm>
          <a:prstGeom prst="roundRect">
            <a:avLst>
              <a:gd name="adj" fmla="val 5161"/>
            </a:avLst>
          </a:prstGeom>
          <a:solidFill>
            <a:srgbClr val="141414"/>
          </a:solidFill>
          <a:ln/>
        </p:spPr>
      </p:sp>
      <p:sp>
        <p:nvSpPr>
          <p:cNvPr id="25" name="Shape 20"/>
          <p:cNvSpPr/>
          <p:nvPr/>
        </p:nvSpPr>
        <p:spPr>
          <a:xfrm>
            <a:off x="4660392" y="5619078"/>
            <a:ext cx="502920" cy="502920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26" name="Image 3" descr="/home/claude/thealth/assets/user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180" y="5754866"/>
            <a:ext cx="231343" cy="23134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318760" y="556421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FFD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5318760" y="589339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0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Лавлейс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4462147E-C63B-5C92-238D-B91F1C1220BD}"/>
              </a:ext>
            </a:extLst>
          </p:cNvPr>
          <p:cNvGrpSpPr/>
          <p:nvPr/>
        </p:nvGrpSpPr>
        <p:grpSpPr>
          <a:xfrm>
            <a:off x="1808118" y="1634817"/>
            <a:ext cx="1414707" cy="1414707"/>
            <a:chOff x="9281160" y="1874520"/>
            <a:chExt cx="1554480" cy="1554480"/>
          </a:xfrm>
        </p:grpSpPr>
        <p:sp>
          <p:nvSpPr>
            <p:cNvPr id="34" name="Shape 23">
              <a:extLst>
                <a:ext uri="{FF2B5EF4-FFF2-40B4-BE49-F238E27FC236}">
                  <a16:creationId xmlns:a16="http://schemas.microsoft.com/office/drawing/2014/main" id="{ABE60F10-F7C8-C302-DB60-774D737603EA}"/>
                </a:ext>
              </a:extLst>
            </p:cNvPr>
            <p:cNvSpPr/>
            <p:nvPr/>
          </p:nvSpPr>
          <p:spPr>
            <a:xfrm>
              <a:off x="9281160" y="1874520"/>
              <a:ext cx="1554480" cy="1554480"/>
            </a:xfrm>
            <a:prstGeom prst="roundRect">
              <a:avLst>
                <a:gd name="adj" fmla="val 24000"/>
              </a:avLst>
            </a:prstGeom>
            <a:solidFill>
              <a:srgbClr val="FFDD2D"/>
            </a:solidFill>
            <a:ln/>
            <a:effectLst>
              <a:outerShdw blurRad="304800" dist="127000" dir="5400000" algn="bl" rotWithShape="0">
                <a:srgbClr val="000000">
                  <a:alpha val="35000"/>
                </a:srgbClr>
              </a:outerShdw>
            </a:effectLst>
          </p:spPr>
        </p:sp>
        <p:pic>
          <p:nvPicPr>
            <p:cNvPr id="35" name="Рисунок 34" descr="Пульсация сердца">
              <a:extLst>
                <a:ext uri="{FF2B5EF4-FFF2-40B4-BE49-F238E27FC236}">
                  <a16:creationId xmlns:a16="http://schemas.microsoft.com/office/drawing/2014/main" id="{194D5020-1C27-444A-09F4-530EBDD2986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590024" y="2202543"/>
              <a:ext cx="914400" cy="914400"/>
            </a:xfrm>
            <a:prstGeom prst="rect">
              <a:avLst/>
            </a:prstGeom>
          </p:spPr>
        </p:pic>
      </p:grpSp>
      <p:sp>
        <p:nvSpPr>
          <p:cNvPr id="9" name="Shape 22">
            <a:extLst>
              <a:ext uri="{FF2B5EF4-FFF2-40B4-BE49-F238E27FC236}">
                <a16:creationId xmlns:a16="http://schemas.microsoft.com/office/drawing/2014/main" id="{D19B0542-9173-B2F4-DEBB-17722FAC39E1}"/>
              </a:ext>
            </a:extLst>
          </p:cNvPr>
          <p:cNvSpPr/>
          <p:nvPr/>
        </p:nvSpPr>
        <p:spPr>
          <a:xfrm>
            <a:off x="8387377" y="6432577"/>
            <a:ext cx="3108960" cy="1828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E9A5BBA0-56F8-1E54-511C-5EB7F07281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4215" y="4716715"/>
            <a:ext cx="1680281" cy="16802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57150"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1" name="1">
            <a:hlinkClick r:id="" action="ppaction://media"/>
            <a:extLst>
              <a:ext uri="{FF2B5EF4-FFF2-40B4-BE49-F238E27FC236}">
                <a16:creationId xmlns:a16="http://schemas.microsoft.com/office/drawing/2014/main" id="{9BCD12EE-359B-3D34-6353-FD735921044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17702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626204" y="407135"/>
            <a:ext cx="2631306" cy="5847346"/>
          </a:xfrm>
          <a:prstGeom prst="roundRect">
            <a:avLst>
              <a:gd name="adj" fmla="val 5439"/>
            </a:avLst>
          </a:prstGeom>
          <a:ln w="76200">
            <a:solidFill>
              <a:schemeClr val="tx1"/>
            </a:solidFill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18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881</Words>
  <Application>Microsoft Office PowerPoint</Application>
  <PresentationFormat>Широкоэкранный</PresentationFormat>
  <Paragraphs>136</Paragraphs>
  <Slides>10</Slides>
  <Notes>10</Notes>
  <HiddenSlides>0</HiddenSlides>
  <MMClips>4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София Самохвалова</cp:lastModifiedBy>
  <cp:revision>9</cp:revision>
  <dcterms:created xsi:type="dcterms:W3CDTF">2026-09-26T15:38:26Z</dcterms:created>
  <dcterms:modified xsi:type="dcterms:W3CDTF">2026-09-27T04:03:05Z</dcterms:modified>
</cp:coreProperties>
</file>